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סגנון ביניים 2 - הדגשה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סגנון ערכת נושא 1 - הדגשה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סגנון ערכת נושא 1 - הדגשה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סגנון בהיר 3 - הדגשה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סגנון בהיר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42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CE7F817-5A37-177B-98E0-3ADBC8B82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7B54471-05A4-0372-8156-41FC7BE4B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A9E6E46-A911-C894-AAAE-70D8B6B4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8F89-AE6E-4113-A1A7-7A2190C91FDB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6157D86-6F8B-9607-E0AB-A45A6B25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DF2DF55-9F04-A845-6980-C0AA598F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66860-8E16-46D9-906E-2CE3A47EB6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7260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668C89-A2DF-FAA8-2A9F-E4C2EB06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0E7305F-F2B1-96CD-394E-074B0F1F7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E3E90C0-2482-CA32-A86F-16F3C0B4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8F89-AE6E-4113-A1A7-7A2190C91FDB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4AA52BA-D1AF-963C-806E-E17829513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21D2510-A688-E0E4-8112-D2ACCBC5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66860-8E16-46D9-906E-2CE3A47EB6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70625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4284FA-3980-F0BB-F894-493BDDDF0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5BF9B47-C8E1-000F-3481-740FDB1ED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B3809DF-195E-4924-C3E7-ADD7091A7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8F89-AE6E-4113-A1A7-7A2190C91FDB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9D677FD-7828-D021-4941-EBE3A140C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2FF79FC-544A-38D4-AA14-7A96FF54E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66860-8E16-46D9-906E-2CE3A47EB6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9491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9B4E5A-BF51-336A-4E6B-D83F879D2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02FDEF1-CAA9-0443-4912-87D6C7116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E1C56C4-03A7-09DC-7F98-1834D35EE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601ED9F-5070-B445-8400-7CC4E5EB5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8F89-AE6E-4113-A1A7-7A2190C91FDB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CF118E3-716B-A18A-DB47-6A4BEC18E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6BB39AA-760D-DC6A-BEE6-9B58D4A6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66860-8E16-46D9-906E-2CE3A47EB6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88353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03EA12E-9152-3218-2C4F-01B0FDB1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3A667AF-C63A-DF32-5B5B-442E8F689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A2DCFBE-F342-E6B3-37BD-7265437C0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57D7485-E363-42F6-562C-8A6D75575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1BBCF4A-7B60-F514-DAB2-027E2C1E39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0EB5A6FA-763D-9F5E-937F-543885EC3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8F89-AE6E-4113-A1A7-7A2190C91FDB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9A81D02-BEA4-FFF3-7F31-06B7D888D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4F1B775-CFAF-2AA4-5F36-D3CD4284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66860-8E16-46D9-906E-2CE3A47EB6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8126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97A928-1B70-0425-C6E4-A8A5019D4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0CFF0A4-3DF3-B347-D37F-1E787420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8F89-AE6E-4113-A1A7-7A2190C91FDB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6B38AD0-649A-3CC1-949D-7A761FC31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30EC9D1-6DDD-8B9A-7A12-88E60159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66860-8E16-46D9-906E-2CE3A47EB6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85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61F7B5F-63B6-584D-F240-D76297732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8F89-AE6E-4113-A1A7-7A2190C91FDB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49BED5F-9A9F-4C90-DE09-D790A7ED3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53065AB-FA67-3D8B-03F9-B46C28440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66860-8E16-46D9-906E-2CE3A47EB6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1344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A4F1F3-17C8-9B82-0D3A-0016CF9D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CCD73A-C38D-8A20-19AD-1BBB83520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5639AE1-4F30-7E6D-7D2F-932BE44E6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EB04A58-BB37-1F73-D581-7266ECA4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8F89-AE6E-4113-A1A7-7A2190C91FDB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A3DB65E-FACF-0C0E-4B5E-2FBE248D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A62FFC9-E673-F48F-B58F-0691C06B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66860-8E16-46D9-906E-2CE3A47EB6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162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449507-0C77-9340-8F6B-07847E2F0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875208C-1A0C-5FF0-C1F3-5D7C54D34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D0D4643-3601-87FD-8FBE-ED97C1C9F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29CB047-F318-B1C3-C69E-533BEE61B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8F89-AE6E-4113-A1A7-7A2190C91FDB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CB81B04-A3B8-27C9-7EA6-5F022DA9F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6B14DFB-8DE9-FB70-751D-688FDA8B9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66860-8E16-46D9-906E-2CE3A47EB6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1005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56D8B13-9065-5C59-490C-8D2F7DBD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F8279EB-50AC-6E6B-D035-05FF65C4A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666353D-F987-A310-AE7C-CF83E84F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8F89-AE6E-4113-A1A7-7A2190C91FDB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FBB9553-02B0-7150-6627-61AF0FFD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52CF732-A26D-1FB5-F4B0-883E504A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66860-8E16-46D9-906E-2CE3A47EB6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418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C4D9EC8-7A1F-0B26-C489-C850F3890D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7F1A1E2-DB93-B071-61E5-023A2BB1B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347103A-9DD2-D7AF-CF53-F4DB6791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E8F89-AE6E-4113-A1A7-7A2190C91FDB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7630618-03F5-CD00-3227-18206B45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171289C-83DF-E43B-2379-852F2D8E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66860-8E16-46D9-906E-2CE3A47EB6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121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7888DD7-7694-46A5-8845-A84E67BE1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8BFAE7E-C858-6F02-56B8-86859521B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8F6532F-B920-C64A-E87E-01254E05F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E8F89-AE6E-4113-A1A7-7A2190C91FDB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5F72E9C-0CF6-B08D-BBB8-3DFEFF455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57E0F36-C714-A567-4748-EDD9E2731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66860-8E16-46D9-906E-2CE3A47EB6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54839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13FD0CB-64D7-F75C-D098-B28EB5AD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3920" y="5752536"/>
            <a:ext cx="6801612" cy="73697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Tnufa, November 2025</a:t>
            </a:r>
            <a:endParaRPr lang="he-IL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תמונה 4" descr="תמונה שמכילה גופן, טקסט, צילום מסך, גרפיק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DFDB258-31A4-AF15-4612-2D4E5E34D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927" y="-658941"/>
            <a:ext cx="6070145" cy="6070145"/>
          </a:xfrm>
          <a:prstGeom prst="rect">
            <a:avLst/>
          </a:prstGeom>
        </p:spPr>
      </p:pic>
      <p:sp>
        <p:nvSpPr>
          <p:cNvPr id="9" name="כותרת משנה 2">
            <a:extLst>
              <a:ext uri="{FF2B5EF4-FFF2-40B4-BE49-F238E27FC236}">
                <a16:creationId xmlns:a16="http://schemas.microsoft.com/office/drawing/2014/main" id="{A2CA2412-13FE-D7A5-0728-732DAF13B073}"/>
              </a:ext>
            </a:extLst>
          </p:cNvPr>
          <p:cNvSpPr txBox="1">
            <a:spLocks/>
          </p:cNvSpPr>
          <p:nvPr/>
        </p:nvSpPr>
        <p:spPr>
          <a:xfrm>
            <a:off x="883920" y="4171310"/>
            <a:ext cx="6801612" cy="123989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1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</a:pPr>
            <a:r>
              <a:rPr lang="tr-T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next-generation AI-driven marketing platform.</a:t>
            </a:r>
          </a:p>
          <a:p>
            <a:pPr algn="l">
              <a:lnSpc>
                <a:spcPct val="90000"/>
              </a:lnSpc>
            </a:pPr>
            <a:r>
              <a:rPr lang="tr-T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Founders:</a:t>
            </a:r>
            <a:endParaRPr lang="tr-TR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>
              <a:lnSpc>
                <a:spcPct val="90000"/>
              </a:lnSpc>
            </a:pPr>
            <a:r>
              <a:rPr lang="tr-T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Liora Koren | Anna Natanzon | Gil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Yehezkel</a:t>
            </a:r>
            <a:endParaRPr lang="tr-T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25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1F93780-8D05-3B35-035A-273B51E98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" y="1907177"/>
            <a:ext cx="11077304" cy="4041856"/>
          </a:xfrm>
        </p:spPr>
        <p:txBody>
          <a:bodyPr>
            <a:normAutofit fontScale="85000" lnSpcReduction="20000"/>
          </a:bodyPr>
          <a:lstStyle/>
          <a:p>
            <a:pPr algn="l" rtl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Fragmented. Slow. Shallow. Expensive.</a:t>
            </a:r>
          </a:p>
          <a:p>
            <a:pPr algn="l" rtl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Businesses juggle multiple ad platforms (Google, Meta, TikTok, etc.)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Analyses are superficial and infrequent - once a week or less.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Systems are disconnected – sales data sits in CRM, ad data in separate tools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Campaigns rely on trial and error, wasting time and money.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Adjustments (changing audiences or creatives) are manual, slow, and costly.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systems react late - while the opportunity is already gone.</a:t>
            </a:r>
          </a:p>
          <a:p>
            <a:pPr marL="0" indent="0" algn="l" rtl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-US" sz="3500" i="1" dirty="0">
                <a:latin typeface="Arial" panose="020B0604020202020204" pitchFamily="34" charset="0"/>
                <a:cs typeface="Arial" panose="020B0604020202020204" pitchFamily="34" charset="0"/>
              </a:rPr>
              <a:t>Today’s marketing is reactive. </a:t>
            </a:r>
            <a:r>
              <a:rPr lang="en-US" sz="3500" i="1" dirty="0" err="1">
                <a:latin typeface="Arial" panose="020B0604020202020204" pitchFamily="34" charset="0"/>
                <a:cs typeface="Arial" panose="020B0604020202020204" pitchFamily="34" charset="0"/>
              </a:rPr>
              <a:t>Vigmis</a:t>
            </a:r>
            <a:r>
              <a:rPr lang="en-US" sz="3500" i="1" dirty="0">
                <a:latin typeface="Arial" panose="020B0604020202020204" pitchFamily="34" charset="0"/>
                <a:cs typeface="Arial" panose="020B0604020202020204" pitchFamily="34" charset="0"/>
              </a:rPr>
              <a:t> turns it predictive and instant.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0"/>
            <a:endParaRPr lang="he-I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9809946-8C02-A93E-A700-3DDDDED7E59B}"/>
              </a:ext>
            </a:extLst>
          </p:cNvPr>
          <p:cNvSpPr txBox="1"/>
          <p:nvPr/>
        </p:nvSpPr>
        <p:spPr>
          <a:xfrm>
            <a:off x="274319" y="642131"/>
            <a:ext cx="6093618" cy="5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Today’s Digital Marketing Reality</a:t>
            </a:r>
            <a:endParaRPr lang="en-US" sz="2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B5FDA50B-54B7-59C0-79EC-E17C11910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814" y="5524994"/>
            <a:ext cx="178018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28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C010-7031-9F50-7A9F-1FE911E1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903911F-3B12-EABC-8180-373ECABD9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" y="1907176"/>
            <a:ext cx="11508378" cy="4767943"/>
          </a:xfrm>
        </p:spPr>
        <p:txBody>
          <a:bodyPr>
            <a:normAutofit fontScale="70000" lnSpcReduction="20000"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AI-driven marketing platform that unifies research, creation, automation, and optimization.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Continuously learns what works — across audiences, geographies, and times.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Performs real-time adjustments: targeting, visuals, messages, and budgets.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Integrates with CRMs, ERPs, websites, and ad networks.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Leverages AI tools (OpenAI, Midjourney, Runway, Synthesia, Jasper) for: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Market analysis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Advertising optimization – crowds, geographies, timing, styles etc.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Businees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fidback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Bizdev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Website improvements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Banner and video creation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Copywriting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 creation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Landing page improvements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Etc..</a:t>
            </a:r>
          </a:p>
          <a:p>
            <a:pPr lvl="1" indent="0" algn="l" rtl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 algn="l" rtl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 algn="l" rtl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Vigmis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conducts the entire marketing orchestra - intelligently, automatically, and instantly.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0"/>
            <a:endParaRPr lang="he-I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C54E68D6-E0A0-CD03-9C4C-C5FDFECABC47}"/>
              </a:ext>
            </a:extLst>
          </p:cNvPr>
          <p:cNvSpPr txBox="1"/>
          <p:nvPr/>
        </p:nvSpPr>
        <p:spPr>
          <a:xfrm>
            <a:off x="532210" y="940758"/>
            <a:ext cx="10750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From reactive to predictive. From guesswork to intelligent automation</a:t>
            </a:r>
            <a:endParaRPr lang="he-IL" sz="2000" b="1" dirty="0"/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46530E3A-8D0E-869A-C21C-1B6D45795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814" y="5667870"/>
            <a:ext cx="1780186" cy="1780186"/>
          </a:xfrm>
          <a:prstGeom prst="rect">
            <a:avLst/>
          </a:prstGeom>
        </p:spPr>
      </p:pic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893396E7-8DAE-ADFB-B0D0-19B253A843A5}"/>
              </a:ext>
            </a:extLst>
          </p:cNvPr>
          <p:cNvSpPr txBox="1"/>
          <p:nvPr/>
        </p:nvSpPr>
        <p:spPr>
          <a:xfrm>
            <a:off x="532210" y="376117"/>
            <a:ext cx="6093618" cy="596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b="1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Vigmis</a:t>
            </a:r>
            <a:endParaRPr lang="en-US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48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FBF5-FFD0-1FDE-42F8-218B43A38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4646C64E-D086-1B03-65A6-79F139ACB497}"/>
              </a:ext>
            </a:extLst>
          </p:cNvPr>
          <p:cNvSpPr txBox="1"/>
          <p:nvPr/>
        </p:nvSpPr>
        <p:spPr>
          <a:xfrm>
            <a:off x="1003697" y="1757363"/>
            <a:ext cx="9326165" cy="5154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Vigmis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scans Michal’s website and analyzes her products, customers, and competitors.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Collects her marketing preferences, goals, and budget.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Recommends full campaign strategies per platform and audience.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Connects directly to ad platforms (Google, Meta, TikTok, etc.) to launch and manage campaigns automatically.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Generates ads, videos, and landing pages using integrated AI tools.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Runs A/B testing continuously across audiences, visuals, and messages.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Monitors performance in real time - turns off underperforming ads and reallocates budget to top performers.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Optimizes by region, demographic, and timing, creating dynamic personalized campaigns that evolve constantly.</a:t>
            </a:r>
          </a:p>
          <a:p>
            <a:pPr lvl="0" algn="l" rt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Everything happens live, seamlessly, and intelligently - </a:t>
            </a:r>
            <a:r>
              <a:rPr lang="en-US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Vigmis</a:t>
            </a:r>
            <a:r>
              <a:rPr lang="en-US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doesn’t just analyze marketing, it runs it.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910CE1D9-5406-4632-A1A1-5CCFAEC6E3F5}"/>
              </a:ext>
            </a:extLst>
          </p:cNvPr>
          <p:cNvSpPr txBox="1"/>
          <p:nvPr/>
        </p:nvSpPr>
        <p:spPr>
          <a:xfrm>
            <a:off x="1003697" y="567230"/>
            <a:ext cx="9697640" cy="5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 Case: Michal (Online Cosmetics Store Owner)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תמונה 15">
            <a:extLst>
              <a:ext uri="{FF2B5EF4-FFF2-40B4-BE49-F238E27FC236}">
                <a16:creationId xmlns:a16="http://schemas.microsoft.com/office/drawing/2014/main" id="{D87B4A5A-7D85-047E-7E6C-0DE1493F4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144" y="5682157"/>
            <a:ext cx="178018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71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5B901-D264-D922-5EE2-0C8CDCC1E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BE79353-DBED-B2E0-85AE-188B72225FF3}"/>
              </a:ext>
            </a:extLst>
          </p:cNvPr>
          <p:cNvSpPr txBox="1"/>
          <p:nvPr/>
        </p:nvSpPr>
        <p:spPr>
          <a:xfrm>
            <a:off x="1403748" y="826457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Market Opportunity</a:t>
            </a:r>
            <a:endParaRPr lang="he-IL" sz="3200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3D6B4D4-82E8-0F29-4D04-BE65AD07AFD8}"/>
              </a:ext>
            </a:extLst>
          </p:cNvPr>
          <p:cNvSpPr txBox="1"/>
          <p:nvPr/>
        </p:nvSpPr>
        <p:spPr>
          <a:xfrm>
            <a:off x="1403748" y="2599083"/>
            <a:ext cx="8554640" cy="1703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Global Digital Advertising: $488B (2024) → $1.16T (2030)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Marketing Automation Market: $6.6B → $15.5B, CAGR ~12%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AI in Marketing: growing &gt;25% yearly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Businesses demand: transparency, automation, and measurable ROI.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81E4DAE7-6157-B0F7-B07B-99D60EBEE421}"/>
              </a:ext>
            </a:extLst>
          </p:cNvPr>
          <p:cNvSpPr txBox="1"/>
          <p:nvPr/>
        </p:nvSpPr>
        <p:spPr>
          <a:xfrm>
            <a:off x="575073" y="6031543"/>
            <a:ext cx="60936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Statista,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Digital Advertising Worldwide Report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2024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Fortune Business Insights,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Marketing Automation Market Size, 2024–2030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MarketsandMarkets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AI in Marketing Market Forecast, 2024–2030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D175DFB4-68B3-BC6A-49ED-97C1D9D1C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244" y="5582145"/>
            <a:ext cx="178018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05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29FE4-6F42-5A8F-A86F-F7FE08B04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5F96F15F-8CEA-3F72-20F3-09CB80310FB3}"/>
              </a:ext>
            </a:extLst>
          </p:cNvPr>
          <p:cNvSpPr txBox="1"/>
          <p:nvPr/>
        </p:nvSpPr>
        <p:spPr>
          <a:xfrm>
            <a:off x="176213" y="215326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Competitive Landscape</a:t>
            </a:r>
            <a:endParaRPr lang="he-IL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טבלה 8">
            <a:extLst>
              <a:ext uri="{FF2B5EF4-FFF2-40B4-BE49-F238E27FC236}">
                <a16:creationId xmlns:a16="http://schemas.microsoft.com/office/drawing/2014/main" id="{6BD741AC-BE1C-6FF6-6647-E31848AE5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420395"/>
              </p:ext>
            </p:extLst>
          </p:nvPr>
        </p:nvGraphicFramePr>
        <p:xfrm>
          <a:off x="466725" y="1164377"/>
          <a:ext cx="10729913" cy="547829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05923">
                  <a:extLst>
                    <a:ext uri="{9D8B030D-6E8A-4147-A177-3AD203B41FA5}">
                      <a16:colId xmlns:a16="http://schemas.microsoft.com/office/drawing/2014/main" val="3425357271"/>
                    </a:ext>
                  </a:extLst>
                </a:gridCol>
                <a:gridCol w="3203417">
                  <a:extLst>
                    <a:ext uri="{9D8B030D-6E8A-4147-A177-3AD203B41FA5}">
                      <a16:colId xmlns:a16="http://schemas.microsoft.com/office/drawing/2014/main" val="3885108024"/>
                    </a:ext>
                  </a:extLst>
                </a:gridCol>
                <a:gridCol w="5920573">
                  <a:extLst>
                    <a:ext uri="{9D8B030D-6E8A-4147-A177-3AD203B41FA5}">
                      <a16:colId xmlns:a16="http://schemas.microsoft.com/office/drawing/2014/main" val="4284138440"/>
                    </a:ext>
                  </a:extLst>
                </a:gridCol>
              </a:tblGrid>
              <a:tr h="305852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 b="1"/>
                        <a:t>Competitor</a:t>
                      </a:r>
                      <a:endParaRPr lang="tr-TR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 b="1"/>
                        <a:t>What They Offer</a:t>
                      </a:r>
                      <a:endParaRPr lang="tr-TR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 b="1"/>
                        <a:t>Missing vs. Vigmis</a:t>
                      </a:r>
                      <a:endParaRPr lang="tr-TR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extLst>
                  <a:ext uri="{0D108BD9-81ED-4DB2-BD59-A6C34878D82A}">
                    <a16:rowId xmlns:a16="http://schemas.microsoft.com/office/drawing/2014/main" val="3128400539"/>
                  </a:ext>
                </a:extLst>
              </a:tr>
              <a:tr h="678252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 b="1"/>
                        <a:t>AdScale</a:t>
                      </a:r>
                      <a:endParaRPr lang="tr-TR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 dirty="0"/>
                        <a:t>Campaign automation &amp; bid optimization</a:t>
                      </a:r>
                      <a:endParaRPr lang="tr-TR" sz="2000" dirty="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 dirty="0"/>
                        <a:t>No creative generation, no real-time adaptation, disconnected from sales/CRM data</a:t>
                      </a:r>
                      <a:endParaRPr lang="en-US" sz="2000" dirty="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extLst>
                  <a:ext uri="{0D108BD9-81ED-4DB2-BD59-A6C34878D82A}">
                    <a16:rowId xmlns:a16="http://schemas.microsoft.com/office/drawing/2014/main" val="56091007"/>
                  </a:ext>
                </a:extLst>
              </a:tr>
              <a:tr h="895659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 b="1"/>
                        <a:t>Madgicx</a:t>
                      </a:r>
                      <a:endParaRPr lang="tr-TR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/>
                        <a:t>AI bid management, audience targeting</a:t>
                      </a:r>
                      <a:endParaRPr lang="tr-TR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 dirty="0"/>
                        <a:t>Limited creative tools, no website or landing page optimization, minimal learning feedback loop</a:t>
                      </a:r>
                      <a:endParaRPr lang="en-US" sz="2000" dirty="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extLst>
                  <a:ext uri="{0D108BD9-81ED-4DB2-BD59-A6C34878D82A}">
                    <a16:rowId xmlns:a16="http://schemas.microsoft.com/office/drawing/2014/main" val="706032596"/>
                  </a:ext>
                </a:extLst>
              </a:tr>
              <a:tr h="678252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 b="1"/>
                        <a:t>HubSpot Ads</a:t>
                      </a:r>
                      <a:endParaRPr lang="tr-TR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/>
                        <a:t>CRM-integrated marketing automation</a:t>
                      </a:r>
                      <a:endParaRPr lang="tr-TR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/>
                        <a:t>Not multi-platform, lacks real-time creative optimization, weak AI-driven insights</a:t>
                      </a:r>
                      <a:endParaRPr lang="en-US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extLst>
                  <a:ext uri="{0D108BD9-81ED-4DB2-BD59-A6C34878D82A}">
                    <a16:rowId xmlns:a16="http://schemas.microsoft.com/office/drawing/2014/main" val="3100507659"/>
                  </a:ext>
                </a:extLst>
              </a:tr>
              <a:tr h="578999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 b="1"/>
                        <a:t>Smartly.io</a:t>
                      </a:r>
                      <a:endParaRPr lang="tr-TR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/>
                        <a:t>Paid social automation (mainly Meta, TikTok)</a:t>
                      </a:r>
                      <a:endParaRPr lang="en-US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/>
                        <a:t>Limited to social ads, high cost, no cross-channel orchestration</a:t>
                      </a:r>
                      <a:endParaRPr lang="en-US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extLst>
                  <a:ext uri="{0D108BD9-81ED-4DB2-BD59-A6C34878D82A}">
                    <a16:rowId xmlns:a16="http://schemas.microsoft.com/office/drawing/2014/main" val="1680009564"/>
                  </a:ext>
                </a:extLst>
              </a:tr>
              <a:tr h="678252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 b="1"/>
                        <a:t>Albert AI</a:t>
                      </a:r>
                      <a:endParaRPr lang="tr-TR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/>
                        <a:t>Autonomous ad management</a:t>
                      </a:r>
                      <a:endParaRPr lang="tr-TR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/>
                        <a:t>Focused only on optimization, no content or strategic campaign generation</a:t>
                      </a:r>
                      <a:endParaRPr lang="en-US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extLst>
                  <a:ext uri="{0D108BD9-81ED-4DB2-BD59-A6C34878D82A}">
                    <a16:rowId xmlns:a16="http://schemas.microsoft.com/office/drawing/2014/main" val="1897467434"/>
                  </a:ext>
                </a:extLst>
              </a:tr>
              <a:tr h="1125295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tr-TR" sz="2000" b="1"/>
                        <a:t>Vigmis</a:t>
                      </a:r>
                      <a:endParaRPr lang="tr-TR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/>
                        <a:t>Full-cycle AI marketing platform: research → content creation → launch → real-time optimization → predictive analytics</a:t>
                      </a:r>
                      <a:endParaRPr lang="en-US" sz="200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2000" dirty="0"/>
                        <a:t>Combines automation, intelligence, creation, and continuous learning — </a:t>
                      </a:r>
                      <a:r>
                        <a:rPr lang="en-US" sz="2000" b="1" dirty="0"/>
                        <a:t>one brain for the entire marketing ecosystem</a:t>
                      </a:r>
                      <a:endParaRPr lang="en-US" sz="2000" dirty="0">
                        <a:cs typeface="+mj-cs"/>
                      </a:endParaRPr>
                    </a:p>
                  </a:txBody>
                  <a:tcPr marL="36494" marR="36494" marT="18247" marB="18247" anchor="ctr"/>
                </a:tc>
                <a:extLst>
                  <a:ext uri="{0D108BD9-81ED-4DB2-BD59-A6C34878D82A}">
                    <a16:rowId xmlns:a16="http://schemas.microsoft.com/office/drawing/2014/main" val="2547724168"/>
                  </a:ext>
                </a:extLst>
              </a:tr>
            </a:tbl>
          </a:graphicData>
        </a:graphic>
      </p:graphicFrame>
      <p:pic>
        <p:nvPicPr>
          <p:cNvPr id="10" name="תמונה 9">
            <a:extLst>
              <a:ext uri="{FF2B5EF4-FFF2-40B4-BE49-F238E27FC236}">
                <a16:creationId xmlns:a16="http://schemas.microsoft.com/office/drawing/2014/main" id="{D2384632-D276-2855-6529-21CEF9199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545" y="5582144"/>
            <a:ext cx="178018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51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3494A-4BAE-04A2-FC1B-987D6C00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68D5260-5E60-F19B-650E-96F7C63F6333}"/>
              </a:ext>
            </a:extLst>
          </p:cNvPr>
          <p:cNvSpPr txBox="1"/>
          <p:nvPr/>
        </p:nvSpPr>
        <p:spPr>
          <a:xfrm>
            <a:off x="689373" y="595806"/>
            <a:ext cx="6093618" cy="596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Vigmis – redefining marketing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918B10D0-0136-0C0E-9F1D-EAF96A7F733F}"/>
              </a:ext>
            </a:extLst>
          </p:cNvPr>
          <p:cNvSpPr txBox="1"/>
          <p:nvPr/>
        </p:nvSpPr>
        <p:spPr>
          <a:xfrm>
            <a:off x="275035" y="1512113"/>
            <a:ext cx="11240690" cy="5744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Continuous AI-driven learning and real-time optimization</a:t>
            </a:r>
            <a:r>
              <a:rPr lang="en-US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- the system constantly analyzes performance data and refines every element automatically.</a:t>
            </a:r>
            <a:endParaRPr lang="en-US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Full-cycle campaign management</a:t>
            </a:r>
            <a:r>
              <a:rPr lang="en-US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- from market research and creative production to launch and live optimization.</a:t>
            </a:r>
            <a:endParaRPr lang="en-US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Dynamic, multi-layered campaign orchestration</a:t>
            </a:r>
            <a:r>
              <a:rPr lang="en-US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- Vigmis runs multiple audience, time, and message variations simultaneously, adapting per platform, geography, and hour of day.</a:t>
            </a:r>
            <a:endParaRPr lang="en-US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Individualized ad </a:t>
            </a:r>
            <a:r>
              <a:rPr lang="en-US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behavior - each audience segment sees different creatives, offers, and frequency, optimized in real time.</a:t>
            </a:r>
            <a:endParaRPr lang="en-US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Instant performance shifts</a:t>
            </a:r>
            <a:r>
              <a:rPr lang="en-US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- underperforming ads are paused, budgets are redirected automatically to top-performing clusters.</a:t>
            </a:r>
            <a:endParaRPr lang="en-US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Seamless integration</a:t>
            </a:r>
            <a:r>
              <a:rPr lang="en-US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with leading AI and data platforms (OpenAI, Google Cloud, Jasper, Synthesia, etc.) for intelligent content generation.</a:t>
            </a:r>
            <a:endParaRPr lang="en-US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Transparency and insight</a:t>
            </a:r>
            <a:r>
              <a:rPr lang="en-US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- businesses gain visibility across the full marketing funnel, from ad to sale.</a:t>
            </a:r>
            <a:endParaRPr lang="en-US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0" algn="l" rt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b="1" kern="10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0" algn="l" rt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Empowers every business to market like an agency — only faster, smarter, and cheaper.</a:t>
            </a:r>
            <a:endParaRPr lang="en-US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3A95B184-3C7B-6C0C-941E-182F3FA09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544" y="5582144"/>
            <a:ext cx="178018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3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0EEA-FCA9-6C9B-6037-53FB9502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998CF316-C856-FF38-833B-E55F40C99083}"/>
              </a:ext>
            </a:extLst>
          </p:cNvPr>
          <p:cNvSpPr txBox="1"/>
          <p:nvPr/>
        </p:nvSpPr>
        <p:spPr>
          <a:xfrm>
            <a:off x="1032272" y="697870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Business Model</a:t>
            </a:r>
            <a:endParaRPr lang="he-IL" sz="3200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B98070C4-BC44-E71C-33FF-2010D226AAE6}"/>
              </a:ext>
            </a:extLst>
          </p:cNvPr>
          <p:cNvSpPr txBox="1"/>
          <p:nvPr/>
        </p:nvSpPr>
        <p:spPr>
          <a:xfrm>
            <a:off x="984647" y="2513358"/>
            <a:ext cx="8726090" cy="1572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Pay-per-click model: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only </a:t>
            </a: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$0.07 per click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 retainers, no setup fees – 100% transparency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Clients pay only for results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not for manpower or agency hours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Scalable SaaS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model with predictable, recurring revenue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8702A0EF-1C85-3B00-29BF-1AC132BB6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544" y="5524994"/>
            <a:ext cx="178018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473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CD8CB-C400-2BAF-7AC3-13CD8CED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9F91A42B-0472-7D41-F596-49F8DF22D161}"/>
              </a:ext>
            </a:extLst>
          </p:cNvPr>
          <p:cNvSpPr txBox="1"/>
          <p:nvPr/>
        </p:nvSpPr>
        <p:spPr>
          <a:xfrm>
            <a:off x="200023" y="1068340"/>
            <a:ext cx="6443663" cy="3567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Traditional Agency Model (on top of ad account budget)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Monthly pre dig spend: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Ad production budget: $2,000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Agency retainer + fees: $1,500 (15% of ad account)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Total cost: ~$3,500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	Performance: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~2,000 clicks/month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Effective CPC: ~$1.75 per click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Manual optimization, slow response, fragmented tools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49D69394-7344-C9BE-0713-40DEF4500EFF}"/>
              </a:ext>
            </a:extLst>
          </p:cNvPr>
          <p:cNvSpPr txBox="1"/>
          <p:nvPr/>
        </p:nvSpPr>
        <p:spPr>
          <a:xfrm>
            <a:off x="6667498" y="1068340"/>
            <a:ext cx="5282803" cy="3465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Vigmis</a:t>
            </a: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Model (on top of ad account budget)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Pay-per-click pricing: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$0.07 per click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2,000 clicks = $140 total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pay only</a:t>
            </a:r>
            <a:r>
              <a:rPr lang="en-US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$0.07 per click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Real-time AI optimization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Integrated with ad platforms and CRM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Continuous improvement and predictive targeting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טבלה 9">
            <a:extLst>
              <a:ext uri="{FF2B5EF4-FFF2-40B4-BE49-F238E27FC236}">
                <a16:creationId xmlns:a16="http://schemas.microsoft.com/office/drawing/2014/main" id="{479B2CE8-8216-2F13-5778-F3584873A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700571"/>
              </p:ext>
            </p:extLst>
          </p:nvPr>
        </p:nvGraphicFramePr>
        <p:xfrm>
          <a:off x="1577775" y="4817142"/>
          <a:ext cx="7731125" cy="1788033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1546225">
                  <a:extLst>
                    <a:ext uri="{9D8B030D-6E8A-4147-A177-3AD203B41FA5}">
                      <a16:colId xmlns:a16="http://schemas.microsoft.com/office/drawing/2014/main" val="3235388336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1022948124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1643017818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229315625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4206495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effectLst/>
                        </a:rPr>
                        <a:t>Model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effectLst/>
                        </a:rPr>
                        <a:t>Monthly Cost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effectLst/>
                        </a:rPr>
                        <a:t>Clicks/month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effectLst/>
                        </a:rPr>
                        <a:t>Effective CPC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effectLst/>
                        </a:rPr>
                        <a:t>Optimization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140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Traditional Agency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~$3,500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~2,000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~$1.75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Manual, periodic, reactive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58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effectLst/>
                        </a:rPr>
                        <a:t>Vigmis (AI-based)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effectLst/>
                        </a:rPr>
                        <a:t>~$140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effectLst/>
                        </a:rPr>
                        <a:t>~2,000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effectLst/>
                        </a:rPr>
                        <a:t>$0.07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effectLst/>
                        </a:rPr>
                        <a:t>Continuous, real-time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793619"/>
                  </a:ext>
                </a:extLst>
              </a:tr>
            </a:tbl>
          </a:graphicData>
        </a:graphic>
      </p:graphicFrame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2F7C654E-FC7F-F8D1-E2E0-5D9CC4849546}"/>
              </a:ext>
            </a:extLst>
          </p:cNvPr>
          <p:cNvSpPr txBox="1"/>
          <p:nvPr/>
        </p:nvSpPr>
        <p:spPr>
          <a:xfrm>
            <a:off x="375046" y="210726"/>
            <a:ext cx="6093618" cy="47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Redefining Marketing Economics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5841F3BF-3396-D11C-14A4-CE51C19BB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814" y="5687068"/>
            <a:ext cx="178018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52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CB9F-3494-0B7B-20E2-5F3D92CA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5301B467-2A5B-5E49-B776-0B503CD85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24902"/>
              </p:ext>
            </p:extLst>
          </p:nvPr>
        </p:nvGraphicFramePr>
        <p:xfrm>
          <a:off x="728662" y="1866901"/>
          <a:ext cx="9844088" cy="4178641"/>
        </p:xfrm>
        <a:graphic>
          <a:graphicData uri="http://schemas.openxmlformats.org/drawingml/2006/table">
            <a:tbl>
              <a:tblPr firstRow="1" firstCol="1" bandRow="1"/>
              <a:tblGrid>
                <a:gridCol w="5190993">
                  <a:extLst>
                    <a:ext uri="{9D8B030D-6E8A-4147-A177-3AD203B41FA5}">
                      <a16:colId xmlns:a16="http://schemas.microsoft.com/office/drawing/2014/main" val="1434375092"/>
                    </a:ext>
                  </a:extLst>
                </a:gridCol>
                <a:gridCol w="4653095">
                  <a:extLst>
                    <a:ext uri="{9D8B030D-6E8A-4147-A177-3AD203B41FA5}">
                      <a16:colId xmlns:a16="http://schemas.microsoft.com/office/drawing/2014/main" val="3880210114"/>
                    </a:ext>
                  </a:extLst>
                </a:gridCol>
              </a:tblGrid>
              <a:tr h="179993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Strengths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Weaknesses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123184"/>
                  </a:ext>
                </a:extLst>
              </a:tr>
              <a:tr h="179993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Real-time AI optimization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Early-stage MVP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381306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Full marketing cycle automation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Dependent on 3rd-party AI tools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395318"/>
                  </a:ext>
                </a:extLst>
              </a:tr>
              <a:tr h="179993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Multi-platform integration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Limited brand awareness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050418"/>
                  </a:ext>
                </a:extLst>
              </a:tr>
              <a:tr h="179993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Low-cost, pay-per-click model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Requires initial integrations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412874"/>
                  </a:ext>
                </a:extLst>
              </a:tr>
              <a:tr h="179993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Experienced founding team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Small internal dev resources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158475"/>
                  </a:ext>
                </a:extLst>
              </a:tr>
              <a:tr h="439294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Opportunities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Threats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196011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Fast-growing AI marketing market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Strong competition (AdTech giants)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573128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Rising demand for automation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Rapid tech and policy changes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902287"/>
                  </a:ext>
                </a:extLst>
              </a:tr>
              <a:tr h="179993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Affordable tools for SMEs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Data privacy and API risks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576329"/>
                  </a:ext>
                </a:extLst>
              </a:tr>
              <a:tr h="179993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Expansion to predictive analytics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Market education needed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626744"/>
                  </a:ext>
                </a:extLst>
              </a:tr>
              <a:tr h="350682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Global scalability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• Potential replication by competitors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07" marR="8307" marT="8307" marB="8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950482"/>
                  </a:ext>
                </a:extLst>
              </a:tr>
            </a:tbl>
          </a:graphicData>
        </a:graphic>
      </p:graphicFrame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DF12ED4-42F4-DFDA-7347-76ECE3AF88DE}"/>
              </a:ext>
            </a:extLst>
          </p:cNvPr>
          <p:cNvSpPr txBox="1"/>
          <p:nvPr/>
        </p:nvSpPr>
        <p:spPr>
          <a:xfrm>
            <a:off x="728662" y="550848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SWOT Analysis</a:t>
            </a:r>
            <a:endParaRPr lang="he-IL" sz="2800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317BCC6E-894B-2D87-8899-BA003AFB2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814" y="5553569"/>
            <a:ext cx="178018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753EB-B0C1-5CC2-848A-9EC493BE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D626A2B-23B2-C388-6100-EF9BC6C16141}"/>
              </a:ext>
            </a:extLst>
          </p:cNvPr>
          <p:cNvSpPr txBox="1"/>
          <p:nvPr/>
        </p:nvSpPr>
        <p:spPr>
          <a:xfrm>
            <a:off x="-3568303" y="581361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Team</a:t>
            </a:r>
            <a:endParaRPr lang="he-IL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4F439A71-FFE8-BFCA-A443-799DE468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8419" y="5510707"/>
            <a:ext cx="1780186" cy="1780186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8FF8E5E9-FE3B-D83B-E8BC-8F01BE133B1C}"/>
              </a:ext>
            </a:extLst>
          </p:cNvPr>
          <p:cNvSpPr txBox="1"/>
          <p:nvPr/>
        </p:nvSpPr>
        <p:spPr>
          <a:xfrm>
            <a:off x="653653" y="2057005"/>
            <a:ext cx="9619060" cy="345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Liora Koren – CEO &amp; Co-Founder</a:t>
            </a:r>
            <a:b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Strategic marketing leader | Growth &amp; cross-market scaling | Co-founder of </a:t>
            </a:r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FoxyMedia</a:t>
            </a:r>
            <a:endParaRPr lang="en-US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Anna Natanzon – COO &amp; Co-Founder</a:t>
            </a:r>
            <a:b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Operational &amp; technology leader | Expert in digital marketing automation, ERP/CRM integration, CEO of Taurus </a:t>
            </a: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Gil </a:t>
            </a:r>
            <a:r>
              <a:rPr lang="en-US" b="1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Yizhakiel</a:t>
            </a: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– Chairman &amp; Co-Founder</a:t>
            </a:r>
            <a:b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Creative strategist | Campaign innovation &amp; product-market alignment | Co-founder of </a:t>
            </a:r>
            <a:r>
              <a:rPr lang="en-US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FoxyMedia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654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46A4-D504-4EC6-39F6-51847EFB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5DF5A52-3377-16EE-DBB6-111CA67ECD61}"/>
              </a:ext>
            </a:extLst>
          </p:cNvPr>
          <p:cNvSpPr txBox="1"/>
          <p:nvPr/>
        </p:nvSpPr>
        <p:spPr>
          <a:xfrm>
            <a:off x="957263" y="468719"/>
            <a:ext cx="6093618" cy="519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Tnufa Program Plan (12 Months)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CFCEE491-112E-21C8-6A29-9BEC7CCE042A}"/>
              </a:ext>
            </a:extLst>
          </p:cNvPr>
          <p:cNvSpPr txBox="1"/>
          <p:nvPr/>
        </p:nvSpPr>
        <p:spPr>
          <a:xfrm>
            <a:off x="1075135" y="1360404"/>
            <a:ext cx="9169002" cy="53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Phase 1 (Months 1–6) – Development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System architecture and AI core engine design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UX/UI and dashboard development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API and CRM integrations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Internal testing and data model calibration</a:t>
            </a:r>
            <a:b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Deliverable: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Functional MVP ready for pilot testing</a:t>
            </a:r>
          </a:p>
          <a:p>
            <a:pPr lvl="0" algn="l" rt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Phase 2 (Months 7–12) – Pilot &amp; Optimization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Deployment with 10–20 pilot clients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Real-time learning and continuous improvement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Refinement of UX, automation, and predictive features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Preparation for scaling and fundraising</a:t>
            </a:r>
            <a:b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Deliverable:</a:t>
            </a: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Validated MVP ready for market launch and investment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698CCB36-0396-5953-4580-107D5C145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772" y="5653582"/>
            <a:ext cx="178018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41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8C094-6109-3E2C-B268-B8EEE41D1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1EB9050-577D-DF2C-E3E1-510889E8F2F9}"/>
              </a:ext>
            </a:extLst>
          </p:cNvPr>
          <p:cNvSpPr txBox="1"/>
          <p:nvPr/>
        </p:nvSpPr>
        <p:spPr>
          <a:xfrm>
            <a:off x="119062" y="899461"/>
            <a:ext cx="6144817" cy="584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During Tnufa (12 Months – MVP Phase)</a:t>
            </a: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endParaRPr lang="en-US" sz="16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Goal:</a:t>
            </a: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Build a functional, tested MVP demonstrating automation and real-time optimization.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Core campaign management engine across Google, Meta, TikTok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Real-time AI optimization (budget, targeting, creatives)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Website scan &amp; analysis with improvement recommendations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Automated generation of basic ad creatives (text, banners, short videos)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Business Intelligence dashboard with real-time performance data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Smart control panel for advertisers (budgets, audiences, restrictions)</a:t>
            </a: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Initial pilot testing with 10-20 real clients</a:t>
            </a: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Deliverable:</a:t>
            </a:r>
            <a:b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Functional MVP demonstrating measurable efficiency and automation in live campaigns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981C5AA9-0F7C-1854-4227-526F8EB49DFA}"/>
              </a:ext>
            </a:extLst>
          </p:cNvPr>
          <p:cNvSpPr txBox="1"/>
          <p:nvPr/>
        </p:nvSpPr>
        <p:spPr>
          <a:xfrm>
            <a:off x="6575822" y="899461"/>
            <a:ext cx="5497116" cy="5425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After Tnufa (Full-Scale Development Phase)</a:t>
            </a: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Goal:</a:t>
            </a: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Expand capabilities into predictive, fully autonomous marketing platform.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Predictive analytics &amp; ROI forecasting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Full automation for website optimization (UX/UI &amp; content fixes)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Dynamic audience segmentation &amp; localization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Advanced behavioral learning across platforms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AI-driven creative studio (video, copy, visuals)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Mobile management app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Open API for integrations with external AI &amp; BI tools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Global scaling and investor readiness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Deliverable:</a:t>
            </a:r>
            <a:b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Commercial-ready platform with predictive intelligence and global scalability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D775240-734F-5513-2AEC-01FDD1ACF944}"/>
              </a:ext>
            </a:extLst>
          </p:cNvPr>
          <p:cNvSpPr txBox="1"/>
          <p:nvPr/>
        </p:nvSpPr>
        <p:spPr>
          <a:xfrm>
            <a:off x="119062" y="261551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Tnufa Deliverables &amp; Next Development Phase</a:t>
            </a:r>
            <a:endParaRPr lang="he-IL" sz="2000" dirty="0"/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90EE9AAB-AD43-C8B5-E7FC-16148A42C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752" y="5653582"/>
            <a:ext cx="178018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23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9FF2B-93E4-DCCB-1AC3-483BBAD3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טבלה 2">
            <a:extLst>
              <a:ext uri="{FF2B5EF4-FFF2-40B4-BE49-F238E27FC236}">
                <a16:creationId xmlns:a16="http://schemas.microsoft.com/office/drawing/2014/main" id="{A975FE71-A9B9-09BD-E9AC-1D97F7B5D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31315"/>
              </p:ext>
            </p:extLst>
          </p:nvPr>
        </p:nvGraphicFramePr>
        <p:xfrm>
          <a:off x="1573213" y="2176272"/>
          <a:ext cx="7731125" cy="2505456"/>
        </p:xfrm>
        <a:graphic>
          <a:graphicData uri="http://schemas.openxmlformats.org/drawingml/2006/table">
            <a:tbl>
              <a:tblPr firstRow="1" firstCol="1" bandRow="1"/>
              <a:tblGrid>
                <a:gridCol w="2581043">
                  <a:extLst>
                    <a:ext uri="{9D8B030D-6E8A-4147-A177-3AD203B41FA5}">
                      <a16:colId xmlns:a16="http://schemas.microsoft.com/office/drawing/2014/main" val="4055418006"/>
                    </a:ext>
                  </a:extLst>
                </a:gridCol>
                <a:gridCol w="900364">
                  <a:extLst>
                    <a:ext uri="{9D8B030D-6E8A-4147-A177-3AD203B41FA5}">
                      <a16:colId xmlns:a16="http://schemas.microsoft.com/office/drawing/2014/main" val="2439558820"/>
                    </a:ext>
                  </a:extLst>
                </a:gridCol>
                <a:gridCol w="4249718">
                  <a:extLst>
                    <a:ext uri="{9D8B030D-6E8A-4147-A177-3AD203B41FA5}">
                      <a16:colId xmlns:a16="http://schemas.microsoft.com/office/drawing/2014/main" val="3327026835"/>
                    </a:ext>
                  </a:extLst>
                </a:gridCol>
              </a:tblGrid>
              <a:tr h="263687"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Share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230060"/>
                  </a:ext>
                </a:extLst>
              </a:tr>
              <a:tr h="263687"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Software Development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60%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Core AI modules, integrations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481216"/>
                  </a:ext>
                </a:extLst>
              </a:tr>
              <a:tr h="263687"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AI APIs &amp; Licenses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10%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OpenAI, Midjourney, Synthesia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301002"/>
                  </a:ext>
                </a:extLst>
              </a:tr>
              <a:tr h="263687"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Cloud &amp; Hosting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5%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AWS / Google Cloud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503762"/>
                  </a:ext>
                </a:extLst>
              </a:tr>
              <a:tr h="263687"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UX &amp; Design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5%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Dashboards, interface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40669"/>
                  </a:ext>
                </a:extLst>
              </a:tr>
              <a:tr h="263687"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QA &amp; Testing (Ad Spend)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Paid campaigns for real validation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6" marR="6482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843868"/>
                  </a:ext>
                </a:extLst>
              </a:tr>
            </a:tbl>
          </a:graphicData>
        </a:graphic>
      </p:graphicFrame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6E8B8BA-53D2-AB95-A553-9AAB35FEA648}"/>
              </a:ext>
            </a:extLst>
          </p:cNvPr>
          <p:cNvSpPr txBox="1"/>
          <p:nvPr/>
        </p:nvSpPr>
        <p:spPr>
          <a:xfrm>
            <a:off x="1573213" y="587920"/>
            <a:ext cx="6093618" cy="596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 of proceeds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173E5B79-245A-0DD5-F238-D7B3E49B0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970" y="5467845"/>
            <a:ext cx="178018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33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B111-713C-6357-5515-36BD64B98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BDF184E-DDB3-5E47-E79C-0AD24144EED7}"/>
              </a:ext>
            </a:extLst>
          </p:cNvPr>
          <p:cNvSpPr txBox="1"/>
          <p:nvPr/>
        </p:nvSpPr>
        <p:spPr>
          <a:xfrm>
            <a:off x="1991916" y="2642954"/>
            <a:ext cx="6093618" cy="1971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20 pilot clients by program end.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30% average cost reduction vs agencies.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90% optimization accuracy.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Investor readiness by Q4 2026.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MVP ready for commercial deployment.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87795E31-510D-B9CC-FFA4-2169CFECF53F}"/>
              </a:ext>
            </a:extLst>
          </p:cNvPr>
          <p:cNvSpPr txBox="1"/>
          <p:nvPr/>
        </p:nvSpPr>
        <p:spPr>
          <a:xfrm>
            <a:off x="1689498" y="612145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KPIs &amp; Expected Outcomes</a:t>
            </a:r>
            <a:endParaRPr lang="he-IL" sz="3200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F9B80603-C031-07DC-DE9F-8953675BD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944" y="5524995"/>
            <a:ext cx="178018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142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AE79F-F069-F45A-21C3-D070F222A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10A797D-6276-B895-C328-ABA1903A7E5B}"/>
              </a:ext>
            </a:extLst>
          </p:cNvPr>
          <p:cNvSpPr txBox="1"/>
          <p:nvPr/>
        </p:nvSpPr>
        <p:spPr>
          <a:xfrm>
            <a:off x="1768673" y="3075057"/>
            <a:ext cx="86546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Empowering every business to market like the world’s biggest brands -intelligently, automatically, and affordably.</a:t>
            </a:r>
            <a:endParaRPr lang="he-I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6F2520E-A6D1-3AB6-FAF0-A3D1F7F2E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0" y="5619224"/>
            <a:ext cx="1778771" cy="177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3202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</TotalTime>
  <Words>1536</Words>
  <Application>Microsoft Office PowerPoint</Application>
  <PresentationFormat>מסך רחב</PresentationFormat>
  <Paragraphs>220</Paragraphs>
  <Slides>16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Symbol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 Krupik</dc:creator>
  <cp:lastModifiedBy>Ami Krupik</cp:lastModifiedBy>
  <cp:revision>15</cp:revision>
  <dcterms:created xsi:type="dcterms:W3CDTF">2025-11-05T08:48:39Z</dcterms:created>
  <dcterms:modified xsi:type="dcterms:W3CDTF">2025-11-05T13:34:47Z</dcterms:modified>
</cp:coreProperties>
</file>